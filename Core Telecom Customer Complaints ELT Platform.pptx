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8" r:id="rId9"/>
    <p:sldId id="269" r:id="rId10"/>
    <p:sldId id="263" r:id="rId11"/>
    <p:sldId id="270" r:id="rId12"/>
    <p:sldId id="264" r:id="rId13"/>
    <p:sldId id="265" r:id="rId14"/>
  </p:sldIdLst>
  <p:sldSz cx="14630400" cy="8229600"/>
  <p:notesSz cx="8229600" cy="146304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Montserrat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A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6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0854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4759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-9-8.svg"/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-9-6.svg"/><Relationship Id="rId5" Type="http://schemas.openxmlformats.org/officeDocument/2006/relationships/image" Target="../media/image-9-4.svg"/><Relationship Id="rId4" Type="http://schemas.openxmlformats.org/officeDocument/2006/relationships/image" Target="../media/image-9-2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882622"/>
            <a:ext cx="13042821" cy="169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Core Telecom Customer Complaints </a:t>
            </a:r>
            <a:r>
              <a:rPr lang="en-US" sz="5100" dirty="0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ELT Platform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793790" y="4668798"/>
            <a:ext cx="7048738" cy="67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By Ugwuede Chidiogo Choice</a:t>
            </a:r>
            <a:endParaRPr lang="en-US" sz="4100" dirty="0"/>
          </a:p>
        </p:txBody>
      </p:sp>
      <p:sp>
        <p:nvSpPr>
          <p:cNvPr id="4" name="TextBox 3"/>
          <p:cNvSpPr txBox="1"/>
          <p:nvPr/>
        </p:nvSpPr>
        <p:spPr>
          <a:xfrm>
            <a:off x="12897853" y="7732295"/>
            <a:ext cx="1604210" cy="497305"/>
          </a:xfrm>
          <a:prstGeom prst="rect">
            <a:avLst/>
          </a:prstGeom>
          <a:solidFill>
            <a:srgbClr val="FFFAEB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07738"/>
            <a:ext cx="6521291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Problem Statement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793790" y="320909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30906" y="3243024"/>
            <a:ext cx="3421499" cy="2542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0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Complaints come from many channels (Website, Social Media, Call Center).</a:t>
            </a:r>
            <a:endParaRPr lang="en-US" sz="3050" dirty="0"/>
          </a:p>
        </p:txBody>
      </p:sp>
      <p:sp>
        <p:nvSpPr>
          <p:cNvPr id="5" name="Shape 3"/>
          <p:cNvSpPr/>
          <p:nvPr/>
        </p:nvSpPr>
        <p:spPr>
          <a:xfrm>
            <a:off x="5235893" y="320909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73008" y="3243024"/>
            <a:ext cx="3421499" cy="101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0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No unified reporting system.</a:t>
            </a:r>
            <a:endParaRPr lang="en-US" sz="3050" dirty="0"/>
          </a:p>
        </p:txBody>
      </p:sp>
      <p:sp>
        <p:nvSpPr>
          <p:cNvPr id="7" name="Shape 5"/>
          <p:cNvSpPr/>
          <p:nvPr/>
        </p:nvSpPr>
        <p:spPr>
          <a:xfrm>
            <a:off x="9677995" y="320909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15111" y="3243024"/>
            <a:ext cx="3421499" cy="152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0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Needed an automated pipeline for:</a:t>
            </a:r>
            <a:endParaRPr lang="en-US" sz="3050" dirty="0"/>
          </a:p>
        </p:txBody>
      </p:sp>
      <p:sp>
        <p:nvSpPr>
          <p:cNvPr id="9" name="Text 7"/>
          <p:cNvSpPr/>
          <p:nvPr/>
        </p:nvSpPr>
        <p:spPr>
          <a:xfrm>
            <a:off x="10415111" y="4904661"/>
            <a:ext cx="3421499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Ingestion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0415111" y="5278755"/>
            <a:ext cx="3421499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Transformation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0415111" y="5652849"/>
            <a:ext cx="3421499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Modeling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415111" y="6026944"/>
            <a:ext cx="3421499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Analytics</a:t>
            </a:r>
            <a:endParaRPr lang="en-US" sz="1750" dirty="0"/>
          </a:p>
        </p:txBody>
      </p:sp>
      <p:sp>
        <p:nvSpPr>
          <p:cNvPr id="13" name="TextBox 12"/>
          <p:cNvSpPr txBox="1"/>
          <p:nvPr/>
        </p:nvSpPr>
        <p:spPr>
          <a:xfrm>
            <a:off x="12897853" y="7732295"/>
            <a:ext cx="1604210" cy="497305"/>
          </a:xfrm>
          <a:prstGeom prst="rect">
            <a:avLst/>
          </a:prstGeom>
          <a:solidFill>
            <a:srgbClr val="FFFAEB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9383" y="612458"/>
            <a:ext cx="6402705" cy="832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50"/>
              </a:lnSpc>
              <a:buNone/>
            </a:pPr>
            <a:r>
              <a:rPr lang="en-US" sz="5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Solution Overview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779383" y="1890117"/>
            <a:ext cx="13071634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solution includes: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79383" y="2430066"/>
            <a:ext cx="4208740" cy="1761530"/>
          </a:xfrm>
          <a:prstGeom prst="roundRect">
            <a:avLst>
              <a:gd name="adj" fmla="val 8306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8903" y="2430066"/>
            <a:ext cx="121920" cy="1761530"/>
          </a:xfrm>
          <a:prstGeom prst="roundRect">
            <a:avLst>
              <a:gd name="adj" fmla="val 76719"/>
            </a:avLst>
          </a:prstGeom>
          <a:solidFill>
            <a:srgbClr val="FF954F"/>
          </a:solidFill>
          <a:ln/>
        </p:spPr>
      </p:sp>
      <p:sp>
        <p:nvSpPr>
          <p:cNvPr id="6" name="Text 4"/>
          <p:cNvSpPr/>
          <p:nvPr/>
        </p:nvSpPr>
        <p:spPr>
          <a:xfrm>
            <a:off x="1123950" y="2683192"/>
            <a:ext cx="3611047" cy="832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5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Automated data extraction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23950" y="3649028"/>
            <a:ext cx="3611047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all sources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0770" y="2430066"/>
            <a:ext cx="4208740" cy="1761530"/>
          </a:xfrm>
          <a:prstGeom prst="roundRect">
            <a:avLst>
              <a:gd name="adj" fmla="val 8306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80290" y="2430066"/>
            <a:ext cx="121920" cy="1761530"/>
          </a:xfrm>
          <a:prstGeom prst="roundRect">
            <a:avLst>
              <a:gd name="adj" fmla="val 76719"/>
            </a:avLst>
          </a:prstGeom>
          <a:solidFill>
            <a:srgbClr val="FF954F"/>
          </a:solidFill>
          <a:ln/>
        </p:spPr>
      </p:sp>
      <p:sp>
        <p:nvSpPr>
          <p:cNvPr id="10" name="Text 8"/>
          <p:cNvSpPr/>
          <p:nvPr/>
        </p:nvSpPr>
        <p:spPr>
          <a:xfrm>
            <a:off x="5555337" y="2683192"/>
            <a:ext cx="3201353" cy="416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5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Central storage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5555337" y="3232904"/>
            <a:ext cx="3611047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S3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2158" y="2430066"/>
            <a:ext cx="4208740" cy="1761530"/>
          </a:xfrm>
          <a:prstGeom prst="roundRect">
            <a:avLst>
              <a:gd name="adj" fmla="val 8306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11677" y="2430066"/>
            <a:ext cx="121920" cy="1761530"/>
          </a:xfrm>
          <a:prstGeom prst="roundRect">
            <a:avLst>
              <a:gd name="adj" fmla="val 76719"/>
            </a:avLst>
          </a:prstGeom>
          <a:solidFill>
            <a:srgbClr val="FF954F"/>
          </a:solidFill>
          <a:ln/>
        </p:spPr>
      </p:sp>
      <p:sp>
        <p:nvSpPr>
          <p:cNvPr id="14" name="Text 12"/>
          <p:cNvSpPr/>
          <p:nvPr/>
        </p:nvSpPr>
        <p:spPr>
          <a:xfrm>
            <a:off x="9986724" y="2683192"/>
            <a:ext cx="3201353" cy="416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5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Airbyte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9986724" y="3232904"/>
            <a:ext cx="3611047" cy="578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ingesting raw data into Snowflake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79383" y="4414242"/>
            <a:ext cx="4208740" cy="1634847"/>
          </a:xfrm>
          <a:prstGeom prst="roundRect">
            <a:avLst>
              <a:gd name="adj" fmla="val 8949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8903" y="4414242"/>
            <a:ext cx="121920" cy="1634847"/>
          </a:xfrm>
          <a:prstGeom prst="roundRect">
            <a:avLst>
              <a:gd name="adj" fmla="val 76719"/>
            </a:avLst>
          </a:prstGeom>
          <a:solidFill>
            <a:srgbClr val="FF954F"/>
          </a:solidFill>
          <a:ln/>
        </p:spPr>
      </p:sp>
      <p:sp>
        <p:nvSpPr>
          <p:cNvPr id="18" name="Text 16"/>
          <p:cNvSpPr/>
          <p:nvPr/>
        </p:nvSpPr>
        <p:spPr>
          <a:xfrm>
            <a:off x="1123950" y="4667369"/>
            <a:ext cx="3201353" cy="416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5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dbt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1123950" y="5217081"/>
            <a:ext cx="3611047" cy="578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modeling, cleaning and enrichment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5210770" y="4414242"/>
            <a:ext cx="4208740" cy="1634847"/>
          </a:xfrm>
          <a:prstGeom prst="roundRect">
            <a:avLst>
              <a:gd name="adj" fmla="val 8949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80290" y="4414242"/>
            <a:ext cx="121920" cy="1634847"/>
          </a:xfrm>
          <a:prstGeom prst="roundRect">
            <a:avLst>
              <a:gd name="adj" fmla="val 76719"/>
            </a:avLst>
          </a:prstGeom>
          <a:solidFill>
            <a:srgbClr val="FF954F"/>
          </a:solidFill>
          <a:ln/>
        </p:spPr>
      </p:sp>
      <p:sp>
        <p:nvSpPr>
          <p:cNvPr id="22" name="Text 20"/>
          <p:cNvSpPr/>
          <p:nvPr/>
        </p:nvSpPr>
        <p:spPr>
          <a:xfrm>
            <a:off x="5555337" y="4667369"/>
            <a:ext cx="3201353" cy="416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5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Airflow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5555337" y="5217081"/>
            <a:ext cx="3611047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orchestration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9642158" y="4414242"/>
            <a:ext cx="4208740" cy="1634847"/>
          </a:xfrm>
          <a:prstGeom prst="roundRect">
            <a:avLst>
              <a:gd name="adj" fmla="val 8949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11677" y="4414242"/>
            <a:ext cx="121920" cy="1634847"/>
          </a:xfrm>
          <a:prstGeom prst="roundRect">
            <a:avLst>
              <a:gd name="adj" fmla="val 76719"/>
            </a:avLst>
          </a:prstGeom>
          <a:solidFill>
            <a:srgbClr val="FF954F"/>
          </a:solidFill>
          <a:ln/>
        </p:spPr>
      </p:sp>
      <p:sp>
        <p:nvSpPr>
          <p:cNvPr id="26" name="Text 24"/>
          <p:cNvSpPr/>
          <p:nvPr/>
        </p:nvSpPr>
        <p:spPr>
          <a:xfrm>
            <a:off x="9986724" y="4667369"/>
            <a:ext cx="3201353" cy="416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5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Docker</a:t>
            </a:r>
            <a:endParaRPr lang="en-US" sz="2500" dirty="0"/>
          </a:p>
        </p:txBody>
      </p:sp>
      <p:sp>
        <p:nvSpPr>
          <p:cNvPr id="27" name="Text 25"/>
          <p:cNvSpPr/>
          <p:nvPr/>
        </p:nvSpPr>
        <p:spPr>
          <a:xfrm>
            <a:off x="9986724" y="5217081"/>
            <a:ext cx="3611047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consistent environment</a:t>
            </a:r>
            <a:endParaRPr lang="en-US" sz="1750" dirty="0"/>
          </a:p>
        </p:txBody>
      </p:sp>
      <p:sp>
        <p:nvSpPr>
          <p:cNvPr id="28" name="Shape 26"/>
          <p:cNvSpPr/>
          <p:nvPr/>
        </p:nvSpPr>
        <p:spPr>
          <a:xfrm>
            <a:off x="779383" y="6271736"/>
            <a:ext cx="4208740" cy="1345406"/>
          </a:xfrm>
          <a:prstGeom prst="roundRect">
            <a:avLst>
              <a:gd name="adj" fmla="val 10874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8903" y="6271736"/>
            <a:ext cx="121920" cy="1345406"/>
          </a:xfrm>
          <a:prstGeom prst="roundRect">
            <a:avLst>
              <a:gd name="adj" fmla="val 76719"/>
            </a:avLst>
          </a:prstGeom>
          <a:solidFill>
            <a:srgbClr val="FF954F"/>
          </a:solidFill>
          <a:ln/>
        </p:spPr>
      </p:sp>
      <p:sp>
        <p:nvSpPr>
          <p:cNvPr id="30" name="Text 28"/>
          <p:cNvSpPr/>
          <p:nvPr/>
        </p:nvSpPr>
        <p:spPr>
          <a:xfrm>
            <a:off x="1123950" y="6524863"/>
            <a:ext cx="3201353" cy="416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5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Power BI dashboard</a:t>
            </a:r>
            <a:endParaRPr lang="en-US" sz="2500" dirty="0"/>
          </a:p>
        </p:txBody>
      </p:sp>
      <p:sp>
        <p:nvSpPr>
          <p:cNvPr id="31" name="Text 29"/>
          <p:cNvSpPr/>
          <p:nvPr/>
        </p:nvSpPr>
        <p:spPr>
          <a:xfrm>
            <a:off x="1123950" y="7074575"/>
            <a:ext cx="3611047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analytics</a:t>
            </a:r>
            <a:endParaRPr lang="en-US" sz="1750" dirty="0"/>
          </a:p>
        </p:txBody>
      </p:sp>
      <p:sp>
        <p:nvSpPr>
          <p:cNvPr id="32" name="TextBox 31"/>
          <p:cNvSpPr txBox="1"/>
          <p:nvPr/>
        </p:nvSpPr>
        <p:spPr>
          <a:xfrm>
            <a:off x="12897853" y="7732295"/>
            <a:ext cx="1604210" cy="497305"/>
          </a:xfrm>
          <a:prstGeom prst="rect">
            <a:avLst/>
          </a:prstGeom>
          <a:solidFill>
            <a:srgbClr val="FFFAEB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5034" y="616580"/>
            <a:ext cx="3590188" cy="108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Architecture</a:t>
            </a:r>
            <a:endParaRPr lang="en-US" sz="5100" dirty="0"/>
          </a:p>
        </p:txBody>
      </p:sp>
      <p:sp>
        <p:nvSpPr>
          <p:cNvPr id="25" name="TextBox 24"/>
          <p:cNvSpPr txBox="1"/>
          <p:nvPr/>
        </p:nvSpPr>
        <p:spPr>
          <a:xfrm>
            <a:off x="12897853" y="7732295"/>
            <a:ext cx="1604210" cy="497305"/>
          </a:xfrm>
          <a:prstGeom prst="rect">
            <a:avLst/>
          </a:prstGeom>
          <a:solidFill>
            <a:srgbClr val="FFFAEB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978" y="472200"/>
            <a:ext cx="9829329" cy="77573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6064"/>
            <a:ext cx="6521291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Architecture Flow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787699" y="1608131"/>
            <a:ext cx="3969544" cy="652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endParaRPr lang="en-US" sz="3050" b="1" dirty="0" smtClean="0">
              <a:solidFill>
                <a:srgbClr val="532418"/>
              </a:solidFill>
              <a:latin typeface="Marcellus" pitchFamily="34" charset="0"/>
              <a:ea typeface="Marcellus" pitchFamily="34" charset="-122"/>
              <a:cs typeface="Marcellus" pitchFamily="34" charset="-120"/>
            </a:endParaRPr>
          </a:p>
          <a:p>
            <a:pPr marL="0" indent="0" algn="l">
              <a:lnSpc>
                <a:spcPts val="4000"/>
              </a:lnSpc>
              <a:buNone/>
            </a:pPr>
            <a:r>
              <a:rPr lang="en-US" sz="3050" b="1" dirty="0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Triggered </a:t>
            </a:r>
            <a:r>
              <a:rPr lang="en-US" sz="305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by Airflow</a:t>
            </a:r>
            <a:endParaRPr lang="en-US" sz="3050" b="1" dirty="0"/>
          </a:p>
        </p:txBody>
      </p:sp>
      <p:sp>
        <p:nvSpPr>
          <p:cNvPr id="5" name="Text 3"/>
          <p:cNvSpPr/>
          <p:nvPr/>
        </p:nvSpPr>
        <p:spPr>
          <a:xfrm>
            <a:off x="793790" y="3681055"/>
            <a:ext cx="22681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arcellus Light" pitchFamily="34" charset="0"/>
                <a:ea typeface="Marcellus Light" pitchFamily="34" charset="-122"/>
                <a:cs typeface="Marcellus Light" pitchFamily="34" charset="-120"/>
              </a:rPr>
              <a:t>01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4047411"/>
            <a:ext cx="4196358" cy="3048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7" name="Text 5"/>
          <p:cNvSpPr/>
          <p:nvPr/>
        </p:nvSpPr>
        <p:spPr>
          <a:xfrm>
            <a:off x="793790" y="4221718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 Sources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793790" y="4781669"/>
            <a:ext cx="4196358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S3, Google Sheets, Postgres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216962" y="3681055"/>
            <a:ext cx="22681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arcellus Light" pitchFamily="34" charset="0"/>
                <a:ea typeface="Marcellus Light" pitchFamily="34" charset="-122"/>
                <a:cs typeface="Marcellus Light" pitchFamily="34" charset="-120"/>
              </a:rPr>
              <a:t>02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216962" y="4047411"/>
            <a:ext cx="4196358" cy="3048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1" name="Text 9"/>
          <p:cNvSpPr/>
          <p:nvPr/>
        </p:nvSpPr>
        <p:spPr>
          <a:xfrm>
            <a:off x="5216962" y="4221718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Extraction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5216962" y="4781669"/>
            <a:ext cx="4196358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stores raw parquet in S3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9640133" y="3681055"/>
            <a:ext cx="22681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arcellus Light" pitchFamily="34" charset="0"/>
                <a:ea typeface="Marcellus Light" pitchFamily="34" charset="-122"/>
                <a:cs typeface="Marcellus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9640133" y="4047411"/>
            <a:ext cx="4196358" cy="3048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5" name="Text 13"/>
          <p:cNvSpPr/>
          <p:nvPr/>
        </p:nvSpPr>
        <p:spPr>
          <a:xfrm>
            <a:off x="9640133" y="4221718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Airbyte pulls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640133" y="4781669"/>
            <a:ext cx="4196358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S3 → loads into Snowflake Bronze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93790" y="5768102"/>
            <a:ext cx="22681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arcellus Light" pitchFamily="34" charset="0"/>
                <a:ea typeface="Marcellus Light" pitchFamily="34" charset="-122"/>
                <a:cs typeface="Marcellus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93790" y="6134457"/>
            <a:ext cx="6407944" cy="3048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9" name="Text 17"/>
          <p:cNvSpPr/>
          <p:nvPr/>
        </p:nvSpPr>
        <p:spPr>
          <a:xfrm>
            <a:off x="793790" y="6308765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dbt transforms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793790" y="6868716"/>
            <a:ext cx="640794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Bronze → Staging → DataOps (Gold)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7428548" y="5768102"/>
            <a:ext cx="22681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arcellus Light" pitchFamily="34" charset="0"/>
                <a:ea typeface="Marcellus Light" pitchFamily="34" charset="-122"/>
                <a:cs typeface="Marcellus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2" name="Shape 20"/>
          <p:cNvSpPr/>
          <p:nvPr/>
        </p:nvSpPr>
        <p:spPr>
          <a:xfrm>
            <a:off x="7428548" y="6134457"/>
            <a:ext cx="6407944" cy="3048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23" name="Text 21"/>
          <p:cNvSpPr/>
          <p:nvPr/>
        </p:nvSpPr>
        <p:spPr>
          <a:xfrm>
            <a:off x="7428548" y="6308765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Power BI connects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7428548" y="6868716"/>
            <a:ext cx="640794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 Gold table for reporting</a:t>
            </a:r>
            <a:endParaRPr lang="en-US" sz="1750" dirty="0"/>
          </a:p>
        </p:txBody>
      </p:sp>
      <p:sp>
        <p:nvSpPr>
          <p:cNvPr id="25" name="TextBox 24"/>
          <p:cNvSpPr txBox="1"/>
          <p:nvPr/>
        </p:nvSpPr>
        <p:spPr>
          <a:xfrm>
            <a:off x="12897853" y="7732295"/>
            <a:ext cx="1604210" cy="497305"/>
          </a:xfrm>
          <a:prstGeom prst="rect">
            <a:avLst/>
          </a:prstGeom>
          <a:solidFill>
            <a:srgbClr val="FFFAEB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702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55583"/>
            <a:ext cx="6521291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 Ingestion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793790" y="4056936"/>
            <a:ext cx="130428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extraction scripts (CSV, JSON, Spreadsheet, Postgres)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431030"/>
            <a:ext cx="130428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Logging + error handling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05124"/>
            <a:ext cx="130428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Loaded to </a:t>
            </a: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S3 in parquet format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179219"/>
            <a:ext cx="130428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Metadata fields for load time</a:t>
            </a:r>
            <a:endParaRPr lang="en-US" sz="1750" dirty="0"/>
          </a:p>
        </p:txBody>
      </p:sp>
      <p:sp>
        <p:nvSpPr>
          <p:cNvPr id="7" name="TextBox 6"/>
          <p:cNvSpPr txBox="1"/>
          <p:nvPr/>
        </p:nvSpPr>
        <p:spPr>
          <a:xfrm>
            <a:off x="12897853" y="7732295"/>
            <a:ext cx="1604210" cy="497305"/>
          </a:xfrm>
          <a:prstGeom prst="rect">
            <a:avLst/>
          </a:prstGeom>
          <a:solidFill>
            <a:srgbClr val="FFFAEB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04549"/>
            <a:ext cx="6521291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Storage &amp; Modeling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793790" y="3519249"/>
            <a:ext cx="3912751" cy="50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 </a:t>
            </a:r>
            <a:r>
              <a:rPr lang="en-US" sz="3050" dirty="0">
                <a:solidFill>
                  <a:srgbClr val="FF95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Snowflake</a:t>
            </a:r>
            <a:r>
              <a:rPr lang="en-US" sz="3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:</a:t>
            </a:r>
            <a:endParaRPr lang="en-US" sz="3050" dirty="0"/>
          </a:p>
        </p:txBody>
      </p:sp>
      <p:sp>
        <p:nvSpPr>
          <p:cNvPr id="4" name="Text 2"/>
          <p:cNvSpPr/>
          <p:nvPr/>
        </p:nvSpPr>
        <p:spPr>
          <a:xfrm>
            <a:off x="793790" y="4254579"/>
            <a:ext cx="6244709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Bronze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= Raw Airbyte loads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628674"/>
            <a:ext cx="6244709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Silver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= Cleaned + validated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002768"/>
            <a:ext cx="6244709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DataOps (Gold)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= Final complaint master table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519249"/>
            <a:ext cx="3912751" cy="50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Modeling with </a:t>
            </a:r>
            <a:r>
              <a:rPr lang="en-US" sz="3050" dirty="0">
                <a:solidFill>
                  <a:srgbClr val="FF95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dbt</a:t>
            </a:r>
            <a:r>
              <a:rPr lang="en-US" sz="3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:</a:t>
            </a:r>
            <a:endParaRPr lang="en-US" sz="3050" dirty="0"/>
          </a:p>
        </p:txBody>
      </p:sp>
      <p:sp>
        <p:nvSpPr>
          <p:cNvPr id="8" name="Text 6"/>
          <p:cNvSpPr/>
          <p:nvPr/>
        </p:nvSpPr>
        <p:spPr>
          <a:xfrm>
            <a:off x="7599521" y="4254579"/>
            <a:ext cx="6244709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Surrogate keys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628674"/>
            <a:ext cx="6244709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Incremental models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002768"/>
            <a:ext cx="6244709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Merge for dimensions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376863"/>
            <a:ext cx="6244709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Append for fact tables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5750957"/>
            <a:ext cx="6244709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SCD1 logic (dimension tables don’t need history)</a:t>
            </a:r>
            <a:endParaRPr lang="en-US" sz="1750" dirty="0"/>
          </a:p>
        </p:txBody>
      </p:sp>
      <p:sp>
        <p:nvSpPr>
          <p:cNvPr id="13" name="TextBox 12"/>
          <p:cNvSpPr txBox="1"/>
          <p:nvPr/>
        </p:nvSpPr>
        <p:spPr>
          <a:xfrm>
            <a:off x="12897853" y="7732295"/>
            <a:ext cx="1604210" cy="497305"/>
          </a:xfrm>
          <a:prstGeom prst="rect">
            <a:avLst/>
          </a:prstGeom>
          <a:solidFill>
            <a:srgbClr val="FFFAEB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97853" y="7732295"/>
            <a:ext cx="1604210" cy="497305"/>
          </a:xfrm>
          <a:prstGeom prst="rect">
            <a:avLst/>
          </a:prstGeom>
          <a:solidFill>
            <a:srgbClr val="FFFAEB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" name="Text 0"/>
          <p:cNvSpPr/>
          <p:nvPr/>
        </p:nvSpPr>
        <p:spPr>
          <a:xfrm>
            <a:off x="334039" y="654882"/>
            <a:ext cx="5489245" cy="708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Entity </a:t>
            </a:r>
          </a:p>
          <a:p>
            <a:pPr marL="0" indent="0" algn="l">
              <a:lnSpc>
                <a:spcPts val="6650"/>
              </a:lnSpc>
              <a:buNone/>
            </a:pPr>
            <a:r>
              <a:rPr lang="en-US" sz="5100" dirty="0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Relationship</a:t>
            </a:r>
          </a:p>
          <a:p>
            <a:pPr marL="0" indent="0" algn="l">
              <a:lnSpc>
                <a:spcPts val="6650"/>
              </a:lnSpc>
              <a:buNone/>
            </a:pPr>
            <a:r>
              <a:rPr lang="en-US" sz="5100" dirty="0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Diagram </a:t>
            </a:r>
            <a:endParaRPr lang="en-US" sz="51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3284" y="1"/>
            <a:ext cx="8807116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601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97853" y="7732295"/>
            <a:ext cx="1604210" cy="497305"/>
          </a:xfrm>
          <a:prstGeom prst="rect">
            <a:avLst/>
          </a:prstGeom>
          <a:solidFill>
            <a:srgbClr val="FFFAEB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6596" y="262796"/>
            <a:ext cx="8905467" cy="783846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1856892"/>
            <a:ext cx="6521291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Final Gold Table</a:t>
            </a:r>
            <a:endParaRPr lang="en-US" sz="5100" dirty="0"/>
          </a:p>
        </p:txBody>
      </p:sp>
    </p:spTree>
    <p:extLst>
      <p:ext uri="{BB962C8B-B14F-4D97-AF65-F5344CB8AC3E}">
        <p14:creationId xmlns:p14="http://schemas.microsoft.com/office/powerpoint/2010/main" val="2820746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86746"/>
            <a:ext cx="6521291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Dashboard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793790" y="2525197"/>
            <a:ext cx="3912751" cy="50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Focus </a:t>
            </a:r>
            <a:r>
              <a:rPr lang="en-US" sz="3050" dirty="0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areas on daily basis:</a:t>
            </a:r>
            <a:endParaRPr lang="en-US" sz="3050" dirty="0"/>
          </a:p>
        </p:txBody>
      </p:sp>
      <p:sp>
        <p:nvSpPr>
          <p:cNvPr id="4" name="Shape 2"/>
          <p:cNvSpPr/>
          <p:nvPr/>
        </p:nvSpPr>
        <p:spPr>
          <a:xfrm>
            <a:off x="793790" y="3373874"/>
            <a:ext cx="6407944" cy="938451"/>
          </a:xfrm>
          <a:prstGeom prst="roundRect">
            <a:avLst>
              <a:gd name="adj" fmla="val 10152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084" y="3631168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 smtClean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Active Customers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7428548" y="3373874"/>
            <a:ext cx="6408063" cy="938451"/>
          </a:xfrm>
          <a:prstGeom prst="roundRect">
            <a:avLst>
              <a:gd name="adj" fmla="val 10152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5842" y="3631168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 smtClean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Active Agents 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793790" y="4539139"/>
            <a:ext cx="6407944" cy="938451"/>
          </a:xfrm>
          <a:prstGeom prst="roundRect">
            <a:avLst>
              <a:gd name="adj" fmla="val 10152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084" y="4796433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 smtClean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Total Complaints 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7428548" y="4539139"/>
            <a:ext cx="6408063" cy="938451"/>
          </a:xfrm>
          <a:prstGeom prst="roundRect">
            <a:avLst>
              <a:gd name="adj" fmla="val 10152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5842" y="4796433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 smtClean="0">
                <a:solidFill>
                  <a:srgbClr val="67534F"/>
                </a:solidFill>
                <a:latin typeface="Marcellus" pitchFamily="34" charset="0"/>
                <a:ea typeface="Marcellus" pitchFamily="34" charset="-122"/>
              </a:rPr>
              <a:t>Complaint Source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793790" y="5704403"/>
            <a:ext cx="6407944" cy="938451"/>
          </a:xfrm>
          <a:prstGeom prst="roundRect">
            <a:avLst>
              <a:gd name="adj" fmla="val 10152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084" y="5961698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Channel distribution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7428548" y="5704403"/>
            <a:ext cx="6408063" cy="938451"/>
          </a:xfrm>
          <a:prstGeom prst="roundRect">
            <a:avLst>
              <a:gd name="adj" fmla="val 10152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5842" y="5961698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SLA monitoring</a:t>
            </a:r>
            <a:endParaRPr lang="en-US" sz="2550" dirty="0"/>
          </a:p>
        </p:txBody>
      </p:sp>
      <p:sp>
        <p:nvSpPr>
          <p:cNvPr id="16" name="TextBox 15"/>
          <p:cNvSpPr txBox="1"/>
          <p:nvPr/>
        </p:nvSpPr>
        <p:spPr>
          <a:xfrm>
            <a:off x="12897853" y="7732295"/>
            <a:ext cx="1604210" cy="497305"/>
          </a:xfrm>
          <a:prstGeom prst="rect">
            <a:avLst/>
          </a:prstGeom>
          <a:solidFill>
            <a:srgbClr val="FFFAEB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97853" y="7732295"/>
            <a:ext cx="1604210" cy="497305"/>
          </a:xfrm>
          <a:prstGeom prst="rect">
            <a:avLst/>
          </a:prstGeom>
          <a:solidFill>
            <a:srgbClr val="FFFAEB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237" y="393641"/>
            <a:ext cx="12607090" cy="733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833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20190"/>
            <a:ext cx="6521291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What This Enables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793790" y="2821543"/>
            <a:ext cx="6407944" cy="1830467"/>
          </a:xfrm>
          <a:prstGeom prst="roundRect">
            <a:avLst>
              <a:gd name="adj" fmla="val 5205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3464" y="307121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954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230630" y="3258383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3464" y="3978473"/>
            <a:ext cx="3344942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Faster decision-making</a:t>
            </a:r>
            <a:endParaRPr lang="en-US" sz="2550" dirty="0"/>
          </a:p>
        </p:txBody>
      </p:sp>
      <p:sp>
        <p:nvSpPr>
          <p:cNvPr id="7" name="Shape 4"/>
          <p:cNvSpPr/>
          <p:nvPr/>
        </p:nvSpPr>
        <p:spPr>
          <a:xfrm>
            <a:off x="7428548" y="2821543"/>
            <a:ext cx="6408063" cy="1830467"/>
          </a:xfrm>
          <a:prstGeom prst="roundRect">
            <a:avLst>
              <a:gd name="adj" fmla="val 5205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78222" y="307121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954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7865388" y="3258383"/>
            <a:ext cx="306110" cy="3061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78222" y="3978473"/>
            <a:ext cx="4059555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Clean single source of truth</a:t>
            </a:r>
            <a:endParaRPr lang="en-US" sz="2550" dirty="0"/>
          </a:p>
        </p:txBody>
      </p:sp>
      <p:sp>
        <p:nvSpPr>
          <p:cNvPr id="11" name="Shape 7"/>
          <p:cNvSpPr/>
          <p:nvPr/>
        </p:nvSpPr>
        <p:spPr>
          <a:xfrm>
            <a:off x="793790" y="4878824"/>
            <a:ext cx="6407944" cy="1830467"/>
          </a:xfrm>
          <a:prstGeom prst="roundRect">
            <a:avLst>
              <a:gd name="adj" fmla="val 5205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043464" y="512849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954F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1230630" y="5315664"/>
            <a:ext cx="306110" cy="3061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43464" y="6035754"/>
            <a:ext cx="4990505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Automated, repeatable workflows</a:t>
            </a:r>
            <a:endParaRPr lang="en-US" sz="2550" dirty="0"/>
          </a:p>
        </p:txBody>
      </p:sp>
      <p:sp>
        <p:nvSpPr>
          <p:cNvPr id="15" name="Shape 10"/>
          <p:cNvSpPr/>
          <p:nvPr/>
        </p:nvSpPr>
        <p:spPr>
          <a:xfrm>
            <a:off x="7428548" y="4878824"/>
            <a:ext cx="6408063" cy="1830467"/>
          </a:xfrm>
          <a:prstGeom prst="roundRect">
            <a:avLst>
              <a:gd name="adj" fmla="val 5205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678222" y="512849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954F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7865388" y="5315664"/>
            <a:ext cx="306110" cy="3061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678222" y="6035754"/>
            <a:ext cx="4767262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Accurate cross-channel analytics</a:t>
            </a:r>
            <a:endParaRPr lang="en-US" sz="2550" dirty="0"/>
          </a:p>
        </p:txBody>
      </p:sp>
      <p:sp>
        <p:nvSpPr>
          <p:cNvPr id="19" name="TextBox 18"/>
          <p:cNvSpPr txBox="1"/>
          <p:nvPr/>
        </p:nvSpPr>
        <p:spPr>
          <a:xfrm>
            <a:off x="12897853" y="7732295"/>
            <a:ext cx="1604210" cy="497305"/>
          </a:xfrm>
          <a:prstGeom prst="rect">
            <a:avLst/>
          </a:prstGeom>
          <a:solidFill>
            <a:srgbClr val="FFFAEB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267075"/>
            <a:ext cx="13042583" cy="1695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50"/>
              </a:lnSpc>
              <a:buNone/>
            </a:pPr>
            <a:r>
              <a:rPr lang="en-US" sz="102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Thank you</a:t>
            </a:r>
            <a:endParaRPr lang="en-US" sz="10250" dirty="0"/>
          </a:p>
        </p:txBody>
      </p:sp>
      <p:sp>
        <p:nvSpPr>
          <p:cNvPr id="3" name="TextBox 2"/>
          <p:cNvSpPr txBox="1"/>
          <p:nvPr/>
        </p:nvSpPr>
        <p:spPr>
          <a:xfrm>
            <a:off x="12897853" y="7732295"/>
            <a:ext cx="1604210" cy="497305"/>
          </a:xfrm>
          <a:prstGeom prst="rect">
            <a:avLst/>
          </a:prstGeom>
          <a:solidFill>
            <a:srgbClr val="FFFAEB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268</Words>
  <Application>Microsoft Office PowerPoint</Application>
  <PresentationFormat>Custom</PresentationFormat>
  <Paragraphs>89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Marcellus</vt:lpstr>
      <vt:lpstr>Calibri</vt:lpstr>
      <vt:lpstr>Montserrat</vt:lpstr>
      <vt:lpstr>Marcellus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Bluechip</dc:creator>
  <cp:lastModifiedBy>Chidiogo Ugwuede [ MTN Nigeria ]</cp:lastModifiedBy>
  <cp:revision>6</cp:revision>
  <dcterms:created xsi:type="dcterms:W3CDTF">2025-12-07T22:00:00Z</dcterms:created>
  <dcterms:modified xsi:type="dcterms:W3CDTF">2025-12-07T22:54:01Z</dcterms:modified>
</cp:coreProperties>
</file>